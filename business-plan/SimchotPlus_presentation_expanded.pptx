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9"/>
    <p:sldId id="279" r:id="rId30"/>
    <p:sldId id="280" r:id="rId31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mako.co.il/news-money/2023_q2/Article-a0701191fda9881026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ulamot.co.il" TargetMode="External"/><Relationship Id="rId2" Type="http://schemas.openxmlformats.org/officeDocument/2006/relationships/hyperlink" Target="https://www.cbs.gov.il/he/mediarelease/DocLib/2024/253/11_24_253b.pdf" TargetMode="External"/><Relationship Id="rId3" Type="http://schemas.openxmlformats.org/officeDocument/2006/relationships/hyperlink" Target="https://www.ice.co.il/consumerism/news/article/1064767" TargetMode="External"/><Relationship Id="rId4" Type="http://schemas.openxmlformats.org/officeDocument/2006/relationships/hyperlink" Target="https://www.mit4mit.co.il/blog/article/6804b722eeee0d5676ade57c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www.mako.co.il/news-money/2023_q2/Article-a0701191fda9881026.htm" TargetMode="External"/><Relationship Id="rId2" Type="http://schemas.openxmlformats.org/officeDocument/2006/relationships/hyperlink" Target="https://attending.co.il" TargetMode="External"/><Relationship Id="rId3" Type="http://schemas.openxmlformats.org/officeDocument/2006/relationships/hyperlink" Target="https://myinvite.co.il/%D7%9E%D7%AA%D7%A0%D7%95%D7%AA-%D7%91%D7%90%D7%A9%D7%A8%D7%90%D7%99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mako.co.il/news-money/2023_q2/Article-a0701191fda9881026.htm" TargetMode="External"/><Relationship Id="rId2" Type="http://schemas.openxmlformats.org/officeDocument/2006/relationships/hyperlink" Target="https://www.easy2gift.co.il/umbraco/surface/Easy2GiveSurface/Introduction" TargetMode="External"/><Relationship Id="rId3" Type="http://schemas.openxmlformats.org/officeDocument/2006/relationships/hyperlink" Target="https://mazlatgift.co.il/%D7%AA%D7%A7%D7%A0%D7%95%D7%9F-%D7%94%D7%90%D7%AA%D7%A8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ulamot.co.il" TargetMode="External"/><Relationship Id="rId2" Type="http://schemas.openxmlformats.org/officeDocument/2006/relationships/hyperlink" Target="https://mazlatgift.co.il/%D7%AA%D7%A7%D7%A0%D7%95%D7%9F-%D7%94%D7%90%D7%AA%D7%A8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www.easy2gift.co.il/umbraco/surface/Easy2GiveSurface/Introduction" TargetMode="External"/><Relationship Id="rId2" Type="http://schemas.openxmlformats.org/officeDocument/2006/relationships/hyperlink" Target="https://digitalpick.co.il" TargetMode="External"/><Relationship Id="rId3" Type="http://schemas.openxmlformats.org/officeDocument/2006/relationships/hyperlink" Target="https://myinvite.co.il/%D7%9E%D7%AA%D7%A0%D7%95%D7%AA-%D7%91%D7%90%D7%A9%D7%A8%D7%90%D7%99/" TargetMode="External"/><Relationship Id="rId4" Type="http://schemas.openxmlformats.org/officeDocument/2006/relationships/hyperlink" Target="https://www.diginet.co.il/%D7%97%D7%91%D7%99%D7%9C%D7%95%D7%AA_%D7%95%D7%9E%D7%97%D7%99%D7%A8%D7%99%D7%9D" TargetMode="External"/><Relationship Id="rId5" Type="http://schemas.openxmlformats.org/officeDocument/2006/relationships/hyperlink" Target="https://mazlatgift.co.il/%D7%AA%D7%A7%D7%A0%D7%95%D7%9F-%D7%94%D7%90%D7%AA%D7%A8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mazlatgift.co.il/%D7%AA%D7%A7%D7%A0%D7%95%D7%9F-%D7%94%D7%90%D7%AA%D7%A8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ulamot.co.il" TargetMode="External"/><Relationship Id="rId2" Type="http://schemas.openxmlformats.org/officeDocument/2006/relationships/hyperlink" Target="https://www.mit4mit.co.il/category/325" TargetMode="External"/><Relationship Id="rId3" Type="http://schemas.openxmlformats.org/officeDocument/2006/relationships/hyperlink" Target="https://allplaces.co.il/place_type/%D7%90%D7%95%D7%9C%D7%9D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https://www.mako.co.il/news-money/2023_q2/Article-a0701191fda9881026.htm" TargetMode="External"/><Relationship Id="rId2" Type="http://schemas.openxmlformats.org/officeDocument/2006/relationships/hyperlink" Target="https://mazlatgift.co.il/%D7%AA%D7%A7%D7%A0%D7%95%D7%9F-%D7%94%D7%90%D7%AA%D7%A8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https://ulamot.co.i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שמחות פלוס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DDEFF1"/>
                </a:solidFill>
              </a:rPr>
              <a:t>BSimchot Plus | עמדות מתנות דיגיטליות + RSVP לאולמות אירועים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DEFF1"/>
                </a:solidFill>
              </a:rPr>
              <a:t>מצגת עסקית מורחבת | מודל B2B2C | יוני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43251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0.5%-1%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41248" y="49103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עמלת סליקה יעד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41605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93008" y="43251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18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493008" y="49103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עמדות לאיזון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41605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44768" y="43251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450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44768" y="49103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יעד עמדות 2031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0" y="41605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96528" y="43251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+37.5%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796528" y="49103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שיפור מתנה ממוצעת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FF1"/>
                </a:solidFill>
              </a:rPr>
              <a:t>עמדה פיזית באולם שמייצרת נוחות לבעלי אירוע, חוויה לאורח ולידים חמים לאולם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חתונה ישראלית עדיין נשענת על מעטפות, לינקים שלא נפתחים ודאטה שאובד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093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מזומן ושיקים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9659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סיכון אובדן/גניבה, ספירה ידנית, לחץ לבעלי האירוע וחוסר שקיפות בזמן אמת.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093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לינקים דיגיטליים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9659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הודעות נפתחות מאוחר, אורחים שוכחים לשלם, והמרה נמוכה אצל מי שמעדיף פעולה במקום.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6093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אולם מפסיד לידים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9659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כל אורח באירוע הוא לקוח עתידי אפשרי, אך ברוב הפתרונות הקשר השיווקי נשאר אצל הזוג או הספק.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102412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28251D"/>
                </a:solidFill>
              </a:rPr>
              <a:t>• פער בין רצון לאפשר אשראי לבין רגישות לעמלות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28251D"/>
                </a:solidFill>
              </a:rPr>
              <a:t>• היעדר מוצר שמחבר עמדה פיזית + RSVP + דף נחיתה ממותג לאולם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28251D"/>
                </a:solidFill>
              </a:rPr>
              <a:t>• ללא דאטה מובנה אין מדידה של ערך שיווקי לאולם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Mako/N12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עמדה חכמה בכניסה לאולם שמרוויחה לכל הצדדים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807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לבעלי האירוע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737360"/>
            <a:ext cx="24140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ניהול מתנות, ברכות, RSVP ודוחות במקום אחד; פחות התעסקות ביום האירוע.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2344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6472" y="13807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לאורחים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76472" y="1737360"/>
            <a:ext cx="24140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מתנה באשראי בעמדה או בקישור, אפשרות תשלומים וברכה דיגיטלית — בפעולה קצרה וברורה.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12344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3807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לאולם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02552" y="1737360"/>
            <a:ext cx="241401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כל הזמנה ודף נחיתה ממותגים בשם האולם, עם איסוף לידים בהסכמה.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64040" y="12344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8632" y="138074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שמחות פלוס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28632" y="1737360"/>
            <a:ext cx="16824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הכנסה מדמי הקמה, סליקה ושירות חודשי לעמדה.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E6F1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1330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4E54"/>
                </a:solidFill>
              </a:rPr>
              <a:t>הבידול: לא עוד “לינק מתנה” בלבד — אלא מוצר B2B2C שמחבר רגע כוונה פיזי באולם עם ערך שיווקי מדיד לבעל האולם.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גודל השוק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שוק גדול, מחזור גבוה, ומעבר טבעי לדיגיטל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9047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17B₪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20756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הכנסות שנתיות בענף האירועים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49047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450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64408" y="20756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אולמות וגנים מאוגדים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49047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2M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687568" y="20756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אורחים בחודש באולמות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9047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51,643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110728" y="207568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זוגות נישאו בישראל ב-2022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20954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פילוח נישואין 2022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3566160"/>
            <a:ext cx="49743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37,135 יהודים (71.9%), 12,756 מוסלמים (24.7%), 959 דרוזים ו-762 נוצרים.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20954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עלות חתונה 2025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3566160"/>
            <a:ext cx="46085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חתונה סטנדרטית בישראל נעה סביב 130-150 אלף ₪; מחיר מנה במרכז יכול להגיע לטווח 350-600 ₪ לפי מקורות ענף.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התאחדות האולמות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הלמ״ס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ICE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Mit4Mit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טרנדים שמשחקים לטובת המוצר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דיגיטציה של האירוע, רגישות לעמלות וצורך בשקיפות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אשראי ומתנות דיגיטליות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37360"/>
            <a:ext cx="296265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שוק המתנות באשראי כבר קיים, אך Mako הציף ביקורת על עמלות של 2%+ ודוגמאות של עשרות שקלים למתנה.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3807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RSVP כערך כלכלי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1737360"/>
            <a:ext cx="296265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אישורי הגעה מדויקים חוסכים מנות, ולכן זוגות כבר רגילים לשלם מאות שקלים לשירותים משלימים.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2344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38074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דאטה לאולם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1737360"/>
            <a:ext cx="296265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למרות זרימת אורחים עצומה, רוב האולמות לא ממירים את קהל האירוע ללידים עתידיים.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E54"/>
                </a:solidFill>
              </a:rPr>
              <a:t>הזדמנות שמחות פלוס: עמלה נמוכה לבעל האירוע, עמדה פיזית שמגדילה המרה, ודף נחיתה שהופך אורחים לקהל שיווקי של האולם.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Mako/N12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Attending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MyInvite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 סקר לקוחות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חשוב לבעלי אירועים ולאורחים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966874" cy="70104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נושא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06954" y="1325880"/>
            <a:ext cx="4589374" cy="70104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2674" y="137160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ממצא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196328" y="1325880"/>
            <a:ext cx="4370832" cy="70104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42048" y="137160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משמעות למוצר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0080" y="2026920"/>
            <a:ext cx="19668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7264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עמלות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606954" y="2026920"/>
            <a:ext cx="45893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2674" y="207264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לקוחות רגישים לעמלה גלויה על מתנה באשראי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196328" y="2026920"/>
            <a:ext cx="4370832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07264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תמחור שקוף ונמוך; אפשרות שהעלות תהיה על בעל האירוע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40080" y="2727960"/>
            <a:ext cx="1966874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7368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נוחות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606954" y="2727960"/>
            <a:ext cx="4589374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2674" y="277368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אורחים רוצים פעולה מהירה ללא הורדת אפליקציה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96328" y="2727960"/>
            <a:ext cx="4370832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277368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עמדה בכניסה + קישור גיבוי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19668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7472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אמון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606954" y="3429000"/>
            <a:ext cx="45893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2674" y="347472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כסף חתונה הוא אירוע רגשי ופיננסי רגיש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196328" y="3429000"/>
            <a:ext cx="4370832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347472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דוחות בזמן אמת, אבטחת סליקה והעברה מסודרת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40080" y="4130040"/>
            <a:ext cx="1966874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7576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תשלומים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606954" y="4130040"/>
            <a:ext cx="4589374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2674" y="417576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אפשרות תשלומים יכולה להגדיל סכום מתנה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196328" y="4130040"/>
            <a:ext cx="4370832" cy="70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417576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להציג סכום כולל ועמלה לפני אישור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0080" y="4831080"/>
            <a:ext cx="19668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876800"/>
            <a:ext cx="18754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ציבור חרדי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606954" y="4831080"/>
            <a:ext cx="4589374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2674" y="4876800"/>
            <a:ext cx="4497934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נדרש מסלול מותאם ללא תלות בסמארטפון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196328" y="4831080"/>
            <a:ext cx="4370832" cy="7010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2048" y="4876800"/>
            <a:ext cx="4279392" cy="609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מודול IVR/כשר ועמדות נפרדות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Mako/N12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Easy2Give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Mazalit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ממצאי סקר אולמות B2B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יגרום לבעל אולם לאמץ את שמחות פלוס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1. בלי עלות ישירה לאולם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37360"/>
            <a:ext cx="30540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האולם מקבל שירות שיווקי ולידים, כאשר בעל האירוע משלם על האירוע.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2. לידים חמים ומדידים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737360"/>
            <a:ext cx="30540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דף נחיתה ממותג + הסכמה לשיווק + CRM נותנים לאולם סיבה עסקית להמליץ.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3. אמינות ביום האירוע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737360"/>
            <a:ext cx="30540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SLA, גיבוי תקשורת, הדרכה ותמיכה הם תנאי סף לפתרון פיזי באולם.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33756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48386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4. White Label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3840480"/>
            <a:ext cx="42428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הזמנות, אישורי הגעה ודף המתנה נשלחים בשם האולם ומחזקים את המותג.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48386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5. התאמה לקהלים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3840480"/>
            <a:ext cx="424281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מסלול חרדי/כשר ואפשרות IVR מרחיבים את קהל האולמות הפוטנציאלי.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התאחדות האולמות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Mazalit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תחרותי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שמחות פלוס משלבת את מה שחסר בפתרונות קיימים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680210" cy="646611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חברה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183130" y="1143000"/>
            <a:ext cx="3584448" cy="646611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8850" y="1188720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מחיר/עמלה ציבוריים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767578" y="1143000"/>
            <a:ext cx="1344168" cy="646611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3298" y="1188720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עמדה פיזית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111746" y="1143000"/>
            <a:ext cx="1344168" cy="646611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7466" y="1188720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לידים לאולם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455914" y="1143000"/>
            <a:ext cx="3248406" cy="646611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1634" y="1188720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פער מול שמחות פלוס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2920" y="1789611"/>
            <a:ext cx="1680210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35331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Easy2Give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183130" y="1789611"/>
            <a:ext cx="358444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8850" y="1835331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עמלה משתנה; עד 6 תשלומים; RSVP לפי רשומה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767578" y="1789611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3298" y="1835331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כן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11746" y="1789611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7466" y="1835331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455914" y="1789611"/>
            <a:ext cx="3248406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1634" y="1835331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מותג חזק, אך ללא ערך לידים לאולם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2436223"/>
            <a:ext cx="1680210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81943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DigitalPick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183130" y="2436223"/>
            <a:ext cx="358444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8850" y="2481943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חבילות 650-2,800₪; מתנות 200₪ בחנות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767578" y="2436223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3298" y="2481943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חלקי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111746" y="2436223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7466" y="2481943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455914" y="2436223"/>
            <a:ext cx="3248406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1634" y="2481943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חבילות רחבות, פחות מיקוד בעמדה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02920" y="3082834"/>
            <a:ext cx="1680210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128554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MyInvite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183130" y="3082834"/>
            <a:ext cx="358444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8850" y="3128554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5.8%+מע״מ לבעלי אירוע; 8₪ לעסקה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767578" y="3082834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13298" y="3128554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111746" y="3082834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7466" y="3128554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455914" y="3082834"/>
            <a:ext cx="3248406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1634" y="3128554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מחיר כניסה נמוך אבל עמלה גבוהה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02920" y="3729446"/>
            <a:ext cx="1680210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75166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DIGINET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183130" y="3729446"/>
            <a:ext cx="358444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28850" y="3775166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מתנות 100₪/חינם בשדרוג; מחיר ממוצע 726₪ ב-Mit4Mit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767578" y="3729446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13298" y="3775166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111746" y="3729446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7466" y="3775166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455914" y="3729446"/>
            <a:ext cx="3248406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1634" y="3775166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דיגיטל חזק, ללא רגע פיזי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02920" y="4376057"/>
            <a:ext cx="1680210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421777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Mazalit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2183130" y="4376057"/>
            <a:ext cx="358444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28850" y="4421777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 פורסם; עמדות לציבור החרדי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767578" y="4376057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13298" y="4421777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כן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7111746" y="4376057"/>
            <a:ext cx="1344168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7466" y="4421777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לא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8455914" y="4376057"/>
            <a:ext cx="3248406" cy="646611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1634" y="4421777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נישה חרדית, ללא מודל לידים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502920" y="5022669"/>
            <a:ext cx="1680210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068389"/>
            <a:ext cx="1588770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שמחות פלוס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2183130" y="5022669"/>
            <a:ext cx="358444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28850" y="5068389"/>
            <a:ext cx="349300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100-200₪ + 50₪ סליקה + 0.5%-1%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5767578" y="5022669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13298" y="5068389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כן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7111746" y="5022669"/>
            <a:ext cx="1344168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57466" y="5068389"/>
            <a:ext cx="1252728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כן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8455914" y="5022669"/>
            <a:ext cx="3248406" cy="646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01634" y="5068389"/>
            <a:ext cx="3156966" cy="5551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עמדה + RSVP + לידים + מחיר נגיש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Easy2Give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DigitalPick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MyInvite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DIGINET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Mazalit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Mazalit ומודול חרדי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Mazalit הוא מתחרה במתנות פיזיות; נדרים פלוס הוא שותף פוטנציאלי ולא מתחרה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מה נמצא על Mazalit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37360"/>
            <a:ext cx="497433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עמדות מעוצבות באולם, הפרדה לגברים/נשים, התאמה לציבור החרדי, אפשרות קישור למי שלא הגיע והעברה תוך עד 7 ימי עסקים.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38074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השלכה לשמחות פלוס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1737360"/>
            <a:ext cx="479145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כדאי לפתח מודול “שמחות פלוס כשר”: IVR לאישור הגעה, תהליך ללא סמארטפון, שפה מותאמת ושותפות עם ספקי קהילה.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3886200"/>
            <a:ext cx="9875520" cy="1005840"/>
          </a:xfrm>
          <a:prstGeom prst="roundRect">
            <a:avLst>
              <a:gd name="adj" fmla="val 7273"/>
            </a:avLst>
          </a:prstGeom>
          <a:solidFill>
            <a:srgbClr val="E6F1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42062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E54"/>
                </a:solidFill>
              </a:rPr>
              <a:t>החלטה אסטרטגית: לא לכלול נדרים פלוס כמתחרה — להתייחס אליו כערוץ סליקה/אמון אפשרי במודול החרדי.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Mazalit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הכנסות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זרמי הכנסה שמייצרים יחידת כלכלה פשוטה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עמלת סליקה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28800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0.5%-1% מהמחזור שנסלק בעמדה. בתרחיש בסיס: 22,500₪ מחזור לאירוע × 0.75% = 169₪.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דמי הקמה לאירוע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828800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100-200₪ לכל אירוע + 50₪ הקמת חשבון סליקה. מחיר נמוך מול שוק השירותים המשלימים.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472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שירות חודשי לעמדה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828800"/>
            <a:ext cx="30540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200₪ לחודש לעמדה עבור שירות, תחזוקה, תמיכה ועדכוני מערכת.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E54"/>
                </a:solidFill>
              </a:rPr>
              <a:t>מודל B2B2C: האולם מוכר ומרוויח לידים; בעל האירוע משלם; האורח מקבל חוויית תשלום נוחה.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רווחיות לעמדה בתרחיש בסיס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819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22,500₪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216712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מחזור סליקה לאירוע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5819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~369₪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64408" y="216712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הכנסה לאירוע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5819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~1,644₪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687568" y="216712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רווח גולמי לעמדה/חודש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5819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~2.1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110728" y="216712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חודשי החזר עמדה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1014984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483864"/>
            <a:ext cx="982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נוסחת רווחיות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3840480"/>
            <a:ext cx="98206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רווח לעמדה = אירועים בחודש × (50₪ סליקה + דמי הקמה ממוצעים + מחזור סליקה × עמלה) − 200₪ שירות חודשי.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תרחישים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גולמי חודשי לעמדה לפי אירועים ומחזור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942186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תרחיש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27986" y="1325880"/>
            <a:ext cx="1942186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3706" y="1371600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מחזור לאירוע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570171" y="1325880"/>
            <a:ext cx="1726387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5891" y="1371600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1 אירוע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96558" y="1325880"/>
            <a:ext cx="1726387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2278" y="1371600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3 אירועים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022946" y="1325880"/>
            <a:ext cx="1726387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8666" y="1371600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5 אירועים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749333" y="1325880"/>
            <a:ext cx="1726387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5053" y="1371600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10 אירועים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2130552"/>
            <a:ext cx="1942186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76272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שמרני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627986" y="2130552"/>
            <a:ext cx="1942186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3706" y="2176272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10,000₪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570171" y="2130552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5891" y="2176272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25₪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296558" y="2130552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2278" y="2176272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475₪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022946" y="2130552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8666" y="2176272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925₪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749333" y="2130552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5053" y="2176272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2,050₪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2935224"/>
            <a:ext cx="194218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980944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בסיס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627986" y="2935224"/>
            <a:ext cx="194218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3706" y="2980944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22,500₪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570171" y="2935224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5891" y="2980944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119₪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296558" y="2935224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2278" y="2980944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756₪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022946" y="2935224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8666" y="2980944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1,394₪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749333" y="2935224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95053" y="2980944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2,988₪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685800" y="3739896"/>
            <a:ext cx="1942186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785616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אופטימי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2627986" y="3739896"/>
            <a:ext cx="1942186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3706" y="3785616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35,000₪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570171" y="3739896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5891" y="3785616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213₪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296558" y="3739896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2278" y="3785616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1,038₪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022946" y="3739896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68666" y="3785616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1,863₪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9749333" y="3739896"/>
            <a:ext cx="1726387" cy="80467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95053" y="3785616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3,925₪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85800" y="4544568"/>
            <a:ext cx="194218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590288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נקודת איזון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627986" y="4544568"/>
            <a:ext cx="194218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73706" y="4590288"/>
            <a:ext cx="185074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~18 עמדות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570171" y="4544568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5891" y="4590288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בהנחת 5 אירועים/חודש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6296558" y="4544568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42278" y="4590288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מחזור בסיס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8022946" y="4544568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8666" y="4590288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24,500₪ הוצאות קבועות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9749333" y="4544568"/>
            <a:ext cx="1726387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95053" y="4590288"/>
            <a:ext cx="1634947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רווח והפסד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לרווחיות עם פריסה תפעולית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203704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1122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מדד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798064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43784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2025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065194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0914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332324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8044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2027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99453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5173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2028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866583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2303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2029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133713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9433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2030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0400843" y="1143000"/>
            <a:ext cx="1267130" cy="850392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6563" y="1188720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2031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4360" y="1993392"/>
            <a:ext cx="2203704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39112"/>
            <a:ext cx="21122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עמדות סוף שנה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98064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5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065194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0914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32324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8044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60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599453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5173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120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866583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12303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200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133713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79433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300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0400843" y="1993392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6563" y="2039112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450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94360" y="2843784"/>
            <a:ext cx="2203704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889504"/>
            <a:ext cx="21122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הכנסות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798064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43784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~17K₪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065194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0914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~245K₪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332324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8044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~1.18M₪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599453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5173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~3.24M₪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866583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2303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~5.39M₪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133713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79433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~8.09M₪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10400843" y="2843784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46563" y="2889504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~12.13M₪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94360" y="3694176"/>
            <a:ext cx="2203704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739896"/>
            <a:ext cx="21122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EBITDA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798064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43784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שלילי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065194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0914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קרוב לאיזון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332324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78044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חיובי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599453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45173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צמיחה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7866583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12303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רווחיות גבוהה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9133713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79433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סקייל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10400843" y="3694176"/>
            <a:ext cx="1267130" cy="850392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446563" y="3739896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מובילות שוק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594360" y="4544568"/>
            <a:ext cx="2203704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4590288"/>
            <a:ext cx="21122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מנוע הוצאות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2798064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43784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פיתוח/פרסום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4065194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0914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התקנות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5332324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78044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התקנות+תמיכה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6599453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45173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אופרציה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7866583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12303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צוות אזורי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9133713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79433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סקייל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10400843" y="4544568"/>
            <a:ext cx="126713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446563" y="4590288"/>
            <a:ext cx="117569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אופטימיזציה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E69"/>
                </a:solidFill>
              </a:rPr>
              <a:t>המודל המלא והנוסחאות החיות נמצאים בגיליון האקסל המצורף.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תחזית 7 שנים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מ-5 עמדות ב-2025 ל-450 עמדות ב-2031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4632960"/>
            <a:ext cx="777240" cy="350520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6969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4541520"/>
            <a:ext cx="777240" cy="441960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4605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4297680"/>
            <a:ext cx="777240" cy="6858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436168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60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3931920"/>
            <a:ext cx="777240" cy="105156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39959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120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2028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3444240"/>
            <a:ext cx="777240" cy="15392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508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200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2029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2834640"/>
            <a:ext cx="777240" cy="21488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8986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300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15600" y="1920240"/>
            <a:ext cx="777240" cy="30632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0" y="1984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51D"/>
                </a:solidFill>
              </a:rPr>
              <a:t>450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2031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4E54"/>
                </a:solidFill>
              </a:rPr>
              <a:t>אבן דרך מרכזית: סביב 18 עמדות פעילות מתקבלת נקודת איזון תפעולית בהנחות הבסיס.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השקעה ועלויות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עלויות ראשוני ושוטף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השקעה ראשונית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37360"/>
            <a:ext cx="479145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100K₪ פיתוח — הוצא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50K₪ פרסום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50K₪ נלוות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3,500₪ לכל עמדה חדשה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38074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הוצאות חודשיות קבועות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1737360"/>
            <a:ext cx="479145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כ-24,500₪ לחודש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עו״ד/רו״ח, מכירות, מזכירות, שיווק ותשתית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• 200₪ לחודש שירות לכל עמדה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E54"/>
                </a:solidFill>
              </a:rPr>
              <a:t>ניהול הון חוזר: הצטיידות הדרגתית בעמדות לפי חוזים חתומים ולא לפי יעד שיווקי בלבד.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ערך לאולמות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בעל אולם יבחר שמחות פלוס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לידים חמים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37360"/>
            <a:ext cx="30540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אורח שמגיע לחתונה הוא קהל יעד לאירוע הבא — ברית, בר מצווה, חתונה או אירוע עסקי.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הזמנות בשם האולם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737360"/>
            <a:ext cx="30540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כל הזמנה/RSVP ודף נחיתה נושאים את מיתוג האולם ומייצרים חשיפה חוזרת.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2344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3807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ללא עלות לאולם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737360"/>
            <a:ext cx="30540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בעל האירוע משלם; האולם מקבל שירות שיווקי שניתן לשלב בחבילת מכירה.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3429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57530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דאטה ודשבורד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93392" y="3931920"/>
            <a:ext cx="3602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מעקב לידים, סטטוס אירועים, המרות ומקורות פנייה.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429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57530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שיפור חוויית לקוח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3931920"/>
            <a:ext cx="3602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פחות מזומן, פחות לחץ, יותר שקיפות לבעלי האירוע.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אסטרטגיית Go-To-Market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להיכנס דרך אולמות ולהוכיח ROI מהיר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3502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שלב 1: פיילוט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69164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10 אולמות במרכז/שרון/ירושלים, עמדה אחת לכל אולם, מחיר היכרות, מדידת לידים.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33502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שלב 2: חוזי מסגרת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69164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רשתות אולמות, מפיקים ומנהלי אירועים; עמלה/בונוס לאולם על אימוץ.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33502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שלב 3: סקייל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69164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צוות התקנות אזורי, מודול חרדי, API, דשבורד אולמות ותוכניות מנוי.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E54"/>
                </a:solidFill>
              </a:rPr>
              <a:t>מדדי מכירה: מספר אולמות חתומים, אירועים פעילים, מחזור סליקה, לידים לאולם, NPS וזמן טיפול בתקלות.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התאחדות האולמות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Mit4Mit אולמות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AllPlaces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מוצר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מעמדה בסיסית לפלטפורמת דאטה לאולמות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726387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634947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תקופה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412187" y="1234440"/>
            <a:ext cx="3236976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7907" y="1280160"/>
            <a:ext cx="3145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מוצר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649163" y="1234440"/>
            <a:ext cx="2913278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4883" y="1280160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תפעול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562442" y="1234440"/>
            <a:ext cx="2913278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08162" y="1280160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מסחרי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2093976"/>
            <a:ext cx="1726387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39696"/>
            <a:ext cx="1634947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2026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412187" y="2093976"/>
            <a:ext cx="3236976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7907" y="2139696"/>
            <a:ext cx="3145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עמדה + RSVP + דוח מתנות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649163" y="2093976"/>
            <a:ext cx="2913278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4883" y="2139696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פיילוט, SLA, תמיכה באירוע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562442" y="2093976"/>
            <a:ext cx="2913278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8162" y="2139696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10-20 עמדות, אולמות ראשונים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5800" y="2953512"/>
            <a:ext cx="1726387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999232"/>
            <a:ext cx="1634947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2027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412187" y="2953512"/>
            <a:ext cx="32369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7907" y="2999232"/>
            <a:ext cx="3145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דשבורד אולם + CRM לידים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649163" y="2953512"/>
            <a:ext cx="291327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4883" y="2999232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צוות התקנות ותמיכה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562442" y="2953512"/>
            <a:ext cx="291327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08162" y="2999232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60 עמדות, חוזי מסגרת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3813048"/>
            <a:ext cx="1726387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858768"/>
            <a:ext cx="1634947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2028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412187" y="3813048"/>
            <a:ext cx="3236976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7907" y="3858768"/>
            <a:ext cx="3145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מודול חרדי/IVR + API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649163" y="3813048"/>
            <a:ext cx="2913278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4883" y="3858768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מוקד תמיכה מורחב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562442" y="3813048"/>
            <a:ext cx="2913278" cy="859536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08162" y="3858768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120 עמדות, קהלים חדשים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85800" y="4672584"/>
            <a:ext cx="1726387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718304"/>
            <a:ext cx="1634947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2029-2031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412187" y="4672584"/>
            <a:ext cx="32369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7907" y="4718304"/>
            <a:ext cx="3145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אנליטיקס, מנויים, הרחבת אירועים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649163" y="4672584"/>
            <a:ext cx="291327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4883" y="4718304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פריסה ארצית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562442" y="4672584"/>
            <a:ext cx="291327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08162" y="4718304"/>
            <a:ext cx="282183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200-450 עמדות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עבודה רב-שנתית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אבני דרך לפי רבעונים ושנים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E6F1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E54"/>
                </a:solidFill>
              </a:rPr>
              <a:t>Q1-Q2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5636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8251D"/>
                </a:solidFill>
              </a:rPr>
              <a:t>פיילוט, סליקה, חוזה אולם, 18 עמדות לאיזון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441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E54"/>
                </a:solidFill>
              </a:rPr>
              <a:t>Q3-Q4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432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8251D"/>
                </a:solidFill>
              </a:rPr>
              <a:t>מכירות אזוריות, דף נחיתה, CRM לידים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E6F1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E54"/>
                </a:solidFill>
              </a:rPr>
              <a:t>2027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3009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8251D"/>
                </a:solidFill>
              </a:rPr>
              <a:t>60 עמדות, EBITDA חיובי, שירות 7/24 באירועים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178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E54"/>
                </a:solidFill>
              </a:rPr>
              <a:t>2028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1696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8251D"/>
                </a:solidFill>
              </a:rPr>
              <a:t>מודול חרדי, API, דשבורד אולמות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E6F1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047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4E54"/>
                </a:solidFill>
              </a:rPr>
              <a:t>2029-2031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0383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8251D"/>
                </a:solidFill>
              </a:rPr>
              <a:t>פריסה ארצית, 200→450 עמדות, מובילות שוק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 ותוכנית הפחתה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הצלחה דורשת אמון, תפעול ורגולציה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622499" cy="73152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סיכון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3262579" y="1234440"/>
            <a:ext cx="3278124" cy="73152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8299" y="128016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השפעה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540703" y="1234440"/>
            <a:ext cx="5026457" cy="731520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6423" y="128016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מענה מוצע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622499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תקלת עמדה ביום אירוע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62579" y="1965960"/>
            <a:ext cx="3278124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8299" y="201168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פגיעה באמון ובאירוע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540703" y="1965960"/>
            <a:ext cx="5026457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6423" y="201168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גיבוי אינטרנט, עמדה חלופית, מוקד On-call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262249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4320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רגישות לעמלות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62579" y="2697480"/>
            <a:ext cx="327812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8299" y="274320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התנגדות אורחים/זוגות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540703" y="2697480"/>
            <a:ext cx="502645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6423" y="274320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עמלה נמוכה ושקופה; אפשרות שהעמלה לא על האורח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2622499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7472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רגולציה פיננסית/פרטיות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262579" y="3429000"/>
            <a:ext cx="3278124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8299" y="347472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עיכוב מסחרי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540703" y="3429000"/>
            <a:ext cx="5026457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6423" y="347472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עבודה עם נש״פ/סולק, תנאי שימוש והסכמות שיווק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262249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0624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אימוץ איטי באולמות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262579" y="4160520"/>
            <a:ext cx="327812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8299" y="420624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קצב צמיחה נמוך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540703" y="4160520"/>
            <a:ext cx="5026457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6423" y="420624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פיילוט ללא עלות לאולם + KPI לידים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2622499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937760"/>
            <a:ext cx="2531059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מתחרה מעתיק מודל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262579" y="4892040"/>
            <a:ext cx="3278124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8299" y="4937760"/>
            <a:ext cx="31866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לחץ מחיר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540703" y="4892040"/>
            <a:ext cx="5026457" cy="731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6423" y="4937760"/>
            <a:ext cx="4935017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8251D"/>
                </a:solidFill>
              </a:rPr>
              <a:t>חוזי בלעדיות, דאטה, דשבורד ו-White Label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Mako/N12</a:t>
            </a:r>
            <a:pPr algn="l" indent="0" marL="0">
              <a:buNone/>
            </a:pPr>
            <a:r>
              <a:rPr lang="en-US" sz="75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750" u="sng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Mazalit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0C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 פיילוט מומלצים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מוכיחים ערך ב-90 יום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36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10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אולמות בפיילוט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1536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50+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081528" y="21214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אירועים מדודים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1536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95%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321808" y="21214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זמינות עמדה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1536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NPS 45+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62088" y="21214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שביעות רצון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153619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4E54"/>
                </a:solidFill>
              </a:rPr>
              <a:t>18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802368" y="21214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עמדות לאיזון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438144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C4E54"/>
                </a:solidFill>
              </a:rPr>
              <a:t>מדדים עסקיים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" y="3794760"/>
            <a:ext cx="99120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28251D"/>
                </a:solidFill>
              </a:rPr>
              <a:t>מחזור סליקה לאירוע, שיעור אורחים בעמדה, סכום מתנה ממוצע, מספר לידים לאולם, שיעור הסכמה לשיווק, עלות התקנה לעמדה וזמן פתרון תקלה.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שמחות פלוס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DDEFF1"/>
                </a:solidFill>
              </a:rPr>
              <a:t>הפלטפורמה שמחברת מתנות דיגיטליות, RSVP ולידים לאולמות אירועים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הצעד הבא: פיילוט ממוקד עם 10 אולמות, מדידת ROI, והמרה לחוזי מסגרת.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4572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07008" y="47365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450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207008" y="53218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עמדות יעד 2031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73168" y="47365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17B₪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773168" y="53218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שוק אירועים שנתי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4572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39328" y="47365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4A4F"/>
                </a:solidFill>
              </a:rPr>
              <a:t>B2B2C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339328" y="53218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מודל צמיחה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D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buNone/>
            </a:pPr>
            <a:r>
              <a:rPr lang="en-US" sz="750" u="sng" dirty="0">
                <a:solidFill>
                  <a:srgbClr val="DDEFF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התאחדות האולמות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700" b="1">
                <a:solidFill>
                  <a:srgbClr val="0C4E54"/>
                </a:solidFill>
                <a:latin typeface="Arial"/>
              </a:rPr>
              <a:t>מיפוי אולמות וגני אירועים — 342 מקומות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6E69"/>
                </a:solidFill>
                <a:latin typeface="Arial"/>
              </a:rPr>
              <a:t>בסיס יעד מכירות B2B2C ארצי, מסווג לפי אזור, קטגוריה וקהל יעד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542032" cy="114300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0472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C4E54"/>
                </a:solidFill>
                <a:latin typeface="Arial"/>
              </a:rPr>
              <a:t>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23225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F6E69"/>
                </a:solidFill>
                <a:latin typeface="Arial"/>
              </a:rPr>
              <a:t>מקומות במאגר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9544" y="1325880"/>
            <a:ext cx="2542032" cy="114300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490472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C4E54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965960"/>
            <a:ext cx="23225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F6E69"/>
                </a:solidFill>
                <a:latin typeface="Arial"/>
              </a:rPr>
              <a:t>אזורים בכל הארץ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0447" y="1325880"/>
            <a:ext cx="2542032" cy="114300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5" y="1490472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C4E54"/>
                </a:solidFill>
                <a:latin typeface="Arial"/>
              </a:rPr>
              <a:t>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5" y="1965960"/>
            <a:ext cx="23225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F6E69"/>
                </a:solidFill>
                <a:latin typeface="Arial"/>
              </a:rPr>
              <a:t>עם טלפון מאומת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1351" y="1325880"/>
            <a:ext cx="2542032" cy="114300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79" y="1490472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C4E54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79" y="1965960"/>
            <a:ext cx="23225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F6E69"/>
                </a:solidFill>
                <a:latin typeface="Arial"/>
              </a:rPr>
              <a:t>קטגוריות מקום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3818534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קטגוריה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7174" y="2743200"/>
            <a:ext cx="1484985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מס'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27248"/>
            <a:ext cx="38185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גן אירועים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7174" y="3127248"/>
            <a:ext cx="148498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11296"/>
            <a:ext cx="3818534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אולם חתונות גדול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7174" y="3511296"/>
            <a:ext cx="1484985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95344"/>
            <a:ext cx="38185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אולם קטן/בוטיק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7174" y="3895344"/>
            <a:ext cx="148498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9392"/>
            <a:ext cx="3818534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מקום מיוחד (חוף/וילה/טבע)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7174" y="4279392"/>
            <a:ext cx="1484985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38185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לופט/אורבני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7174" y="4663440"/>
            <a:ext cx="148498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47488"/>
            <a:ext cx="3818534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מתחם רב-אולמי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7174" y="5047488"/>
            <a:ext cx="1484985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31536"/>
            <a:ext cx="38185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אולם בבית כנסת/קהילתי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7174" y="5431536"/>
            <a:ext cx="148498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743200"/>
            <a:ext cx="3653942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אזור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6142" y="2743200"/>
            <a:ext cx="1420977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מס'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127248"/>
            <a:ext cx="365394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מרכז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6142" y="3127248"/>
            <a:ext cx="142097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511296"/>
            <a:ext cx="3653942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שרון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6142" y="3511296"/>
            <a:ext cx="1420977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895344"/>
            <a:ext cx="365394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צפון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6142" y="3895344"/>
            <a:ext cx="142097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61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279392"/>
            <a:ext cx="3653942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ירושלים והסביבה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6142" y="4279392"/>
            <a:ext cx="1420977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663440"/>
            <a:ext cx="365394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דרום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6142" y="4663440"/>
            <a:ext cx="142097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5047488"/>
            <a:ext cx="3653942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00">
                <a:solidFill>
                  <a:srgbClr val="28251D"/>
                </a:solidFill>
                <a:latin typeface="Arial"/>
              </a:rPr>
              <a:t>שפלה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6142" y="5047488"/>
            <a:ext cx="1420977" cy="38404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>
                <a:solidFill>
                  <a:srgbClr val="28251D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5321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F6E69"/>
                </a:solidFill>
                <a:latin typeface="Arial"/>
              </a:rPr>
              <a:t>עדיפות פנייה גבוהה: אולמות גדולים, מתחמים רב-אולמיים, ומרכז/שרון/ירושלים — מחושב אוטומטית בגיליון.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6F6E69"/>
                </a:solidFill>
                <a:latin typeface="Arial"/>
              </a:rPr>
              <a:t>Source: mit4mit.co.il, mazaltov.walla.co.il, mazalday.com, b144.co.il, b7net.co.il, mekomot-eruim.co.il, halocation.co.il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700" b="1">
                <a:solidFill>
                  <a:srgbClr val="0C4E54"/>
                </a:solidFill>
                <a:latin typeface="Arial"/>
              </a:rPr>
              <a:t>סכומי מתנות לפי מגזר ויתרון העמדה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6E69"/>
                </a:solidFill>
                <a:latin typeface="Arial"/>
              </a:rPr>
              <a:t>עמדת האשראי מגדילה את המתנה הממוצעת בכל מגזר — והחבילה משולבת בסגירת האולם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212848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מגזר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1488" y="1417320"/>
            <a:ext cx="1438351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ללא עמדה ₪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9839" y="1417320"/>
            <a:ext cx="1438351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עם עמדה ₪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190" y="1417320"/>
            <a:ext cx="1106424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גידול</a:t>
            </a:r>
          </a:p>
        </p:txBody>
      </p:sp>
      <p:sp>
        <p:nvSpPr>
          <p:cNvPr id="8" name="Rectangle 7"/>
          <p:cNvSpPr/>
          <p:nvPr/>
        </p:nvSpPr>
        <p:spPr>
          <a:xfrm>
            <a:off x="6744614" y="1417320"/>
            <a:ext cx="4868265" cy="384048"/>
          </a:xfrm>
          <a:prstGeom prst="rect">
            <a:avLst/>
          </a:prstGeom>
          <a:solidFill>
            <a:srgbClr val="0C4E5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יתרון מרכזי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22128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50">
                <a:solidFill>
                  <a:srgbClr val="28251D"/>
                </a:solidFill>
                <a:latin typeface="Arial"/>
              </a:rPr>
              <a:t>חילוני (מרכז)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801368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450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9839" y="1801368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620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8190" y="1801368"/>
            <a:ext cx="110642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+37.8%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4614" y="1801368"/>
            <a:ext cx="48682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נוחות ומיידיות, קהל צעיר רגיל לאשראי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68296"/>
            <a:ext cx="2212848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50">
                <a:solidFill>
                  <a:srgbClr val="28251D"/>
                </a:solidFill>
                <a:latin typeface="Arial"/>
              </a:rPr>
              <a:t>דתי-לאומי (ירושלים)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2368296"/>
            <a:ext cx="1438351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480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9839" y="2368296"/>
            <a:ext cx="1438351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640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8190" y="2368296"/>
            <a:ext cx="1106424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+33.3%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4614" y="2368296"/>
            <a:ext cx="4868265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קהל גדול → ערך מצטבר גבוה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35224"/>
            <a:ext cx="22128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50">
                <a:solidFill>
                  <a:srgbClr val="28251D"/>
                </a:solidFill>
                <a:latin typeface="Arial"/>
              </a:rPr>
              <a:t>חרדי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935224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350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9839" y="2935224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38190" y="2935224"/>
            <a:ext cx="110642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+42.9%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44614" y="2935224"/>
            <a:ext cx="48682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מסלול כשר IVR + הפרדת עמדות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2212848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50">
                <a:solidFill>
                  <a:srgbClr val="28251D"/>
                </a:solidFill>
                <a:latin typeface="Arial"/>
              </a:rPr>
              <a:t>מסורתי/מעורב (דרום)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1488" y="3502152"/>
            <a:ext cx="1438351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380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99839" y="3502152"/>
            <a:ext cx="1438351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520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38190" y="3502152"/>
            <a:ext cx="1106424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+36.8%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4614" y="3502152"/>
            <a:ext cx="4868265" cy="566928"/>
          </a:xfrm>
          <a:prstGeom prst="rect">
            <a:avLst/>
          </a:prstGeom>
          <a:solidFill>
            <a:srgbClr val="F4F8F8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גישור על העדפת מזומן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69080"/>
            <a:ext cx="22128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r"/>
            <a:r>
              <a:rPr sz="1050">
                <a:solidFill>
                  <a:srgbClr val="28251D"/>
                </a:solidFill>
                <a:latin typeface="Arial"/>
              </a:rPr>
              <a:t>מגזר ערבי (צפון)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4069080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300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99839" y="4069080"/>
            <a:ext cx="143835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430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8190" y="4069080"/>
            <a:ext cx="110642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+43.3%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4614" y="4069080"/>
            <a:ext cx="486826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50">
                <a:solidFill>
                  <a:srgbClr val="28251D"/>
                </a:solidFill>
                <a:latin typeface="Arial"/>
              </a:rPr>
              <a:t>אירועים גדולים מאוד → נפח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83480"/>
            <a:ext cx="11064240" cy="123444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0C4E54"/>
                </a:solidFill>
                <a:latin typeface="Arial"/>
              </a:rPr>
              <a:t>אסטרטגיית 'חבילה בסגירת אולם' (B2B2C)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68112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בעל האירוע סוגר אולם → שמחות פלוס כבר מובנית בחבילה (לא מכירה נפרדת). האולם מציג זאת כערך מוסף שלו; בעל האירוע משלם 100-200₪ דמי הקמה; האולם לא נושא בעלות ומקבל לידים חמים. Win-Win-Win.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6F6E69"/>
                </a:solidFill>
                <a:latin typeface="Arial"/>
              </a:rPr>
              <a:t>Source: אומדני שוק ופרמטרי המודל (גיליון 'מגזרים וסכומי מתנות'); דורש אימות בסקר שטח. עמלות: Mako/N12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700" b="1">
                <a:solidFill>
                  <a:srgbClr val="0C4E54"/>
                </a:solidFill>
                <a:latin typeface="Arial"/>
              </a:rPr>
              <a:t>חדשנות, חוויית משתמש והרחבות עתידיות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6E69"/>
                </a:solidFill>
                <a:latin typeface="Arial"/>
              </a:rPr>
              <a:t>מפת פיתוח מוצרית — מעבר לחתונות, אל דינרים, תערוכות ועמדות תצוגה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49240" cy="475488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0C4E54"/>
                </a:solidFill>
                <a:latin typeface="Arial"/>
              </a:rPr>
              <a:t>רעיונות בעדיפות גבוהה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פריסת מתנה לתשלומים (3/6/12)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602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ארנק מתנות דיגיטלי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5351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Check-in / QR בכניסה לאירוע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6100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CRM לידים חמים לאולם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684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דשבורד ROI חי לבעל האירוע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759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עמדה Offline + גיבוי סלולרי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דף נחיתה White-Label לכל אירוע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9097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28251D"/>
                </a:solidFill>
                <a:latin typeface="Arial"/>
              </a:rPr>
              <a:t>●  מסלול כשר: IVR ללא סמארטפון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5440680" cy="4754880"/>
          </a:xfrm>
          <a:prstGeom prst="roundRect">
            <a:avLst/>
          </a:prstGeom>
          <a:solidFill>
            <a:srgbClr val="FBFBF9"/>
          </a:solidFill>
          <a:ln w="9525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0C4E54"/>
                </a:solidFill>
                <a:latin typeface="Arial"/>
              </a:rPr>
              <a:t>הרחבה לסוגי אירועים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385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22631F"/>
                </a:solidFill>
                <a:latin typeface="Arial"/>
              </a:rPr>
              <a:t>דינרים והתרמות  —  גבוהה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31136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F6E69"/>
                </a:solidFill>
                <a:latin typeface="Arial"/>
              </a:rPr>
              <a:t>מודול תרומה + קבלה 46א' + מסך יעד חי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79776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964219"/>
                </a:solidFill>
                <a:latin typeface="Arial"/>
              </a:rPr>
              <a:t>כנסים ותערוכות B2B  —  בינונית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72384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F6E69"/>
                </a:solidFill>
                <a:latin typeface="Arial"/>
              </a:rPr>
              <a:t>עמדת תצוגת מוצרים + Check-in מבקרים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2102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964219"/>
                </a:solidFill>
                <a:latin typeface="Arial"/>
              </a:rPr>
              <a:t>אירועי חברה  —  בינונית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13632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F6E69"/>
                </a:solidFill>
                <a:latin typeface="Arial"/>
              </a:rPr>
              <a:t>RSVP + סקרים + תשלום עובד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622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964219"/>
                </a:solidFill>
                <a:latin typeface="Arial"/>
              </a:rPr>
              <a:t>ברית/אירוסין/חינה  —  בינונית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5488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F6E69"/>
                </a:solidFill>
                <a:latin typeface="Arial"/>
              </a:rPr>
              <a:t>חבילת שמחה קומפקטית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0352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>
                <a:solidFill>
                  <a:srgbClr val="22631F"/>
                </a:solidFill>
                <a:latin typeface="Arial"/>
              </a:rPr>
              <a:t>מגזר חרדי  —  גבוהה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596128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F6E69"/>
                </a:solidFill>
                <a:latin typeface="Arial"/>
              </a:rPr>
              <a:t>עמדות נפרדות + שותפות נדרים פלוס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6F6E69"/>
                </a:solidFill>
                <a:latin typeface="Arial"/>
              </a:rPr>
              <a:t>Source: גיליונות 'רעיונות וחדשנות' ו'ממשק והרחבות'. כל הרחבה מודולרית — לפי החלטת המשתמש.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BSimchot 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שמחות פלוס | BSimchot Plus</dc:title>
  <dc:subject>שמחות פלוס - מצגת עסקית מורחבת</dc:subject>
  <dc:creator>Perplexity AI</dc:creator>
  <cp:lastModifiedBy>Perplexity AI</cp:lastModifiedBy>
  <cp:revision>1</cp:revision>
  <dcterms:created xsi:type="dcterms:W3CDTF">2026-06-25T06:00:21Z</dcterms:created>
  <dcterms:modified xsi:type="dcterms:W3CDTF">2026-06-25T06:00:21Z</dcterms:modified>
</cp:coreProperties>
</file>